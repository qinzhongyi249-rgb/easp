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548640"/>
            <a:ext cx="4023360" cy="4023360"/>
          </a:xfrm>
          <a:prstGeom prst="arc">
            <a:avLst/>
          </a:prstGeom>
          <a:noFill/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594360"/>
            <a:ext cx="2194560" cy="329184"/>
          </a:xfrm>
          <a:prstGeom prst="roundRect">
            <a:avLst>
              <a:gd name="adj" fmla="val 333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699516"/>
            <a:ext cx="18745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ENTERPRISE AI SERVICE PLATFORM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6583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</a:rPr>
              <a:t>EASP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</a:rPr>
              <a:t>产品推广手册</a:t>
            </a:r>
            <a:endParaRPr lang="en-US" sz="4300" dirty="0"/>
          </a:p>
        </p:txBody>
      </p:sp>
      <p:sp>
        <p:nvSpPr>
          <p:cNvPr id="7" name="Text 5"/>
          <p:cNvSpPr/>
          <p:nvPr/>
        </p:nvSpPr>
        <p:spPr>
          <a:xfrm>
            <a:off x="713232" y="299923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F2FE"/>
                </a:solidFill>
              </a:rPr>
              <a:t>企业级 API-to-MCP 智能服务平台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3232" y="3493008"/>
            <a:ext cx="5669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把企业已有 API 安全、可控、可运营地转化为 AI Agent 可调用能力。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3232" y="4892040"/>
            <a:ext cx="24231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505663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API-to-MCP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96112" y="5376672"/>
            <a:ext cx="2057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OpenAPI 导入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自动生成工具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502152" y="4892040"/>
            <a:ext cx="24231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85032" y="505663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企业治理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85032" y="5376672"/>
            <a:ext cx="2057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多租户 / SSO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RBAC / 审计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91072" y="4892040"/>
            <a:ext cx="24231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505663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Skill 引擎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73952" y="5376672"/>
            <a:ext cx="2057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流程编排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执行追踪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079992" y="4892040"/>
            <a:ext cx="24231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62872" y="505663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记忆系统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62872" y="5376672"/>
            <a:ext cx="2057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长期上下文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混合检索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EASP 产品推广手册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1. 一句话定位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EASP 是面向 B2B SaaS 场景的企业级智能服务平台，将企业已有 API 转换为 MCP 工具，并通过多租户、SSO、RBAC/ABAC、审计、记忆与 Skill 引擎，为企业提供安全、可治理、可运营的 AI 能力接入层。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85800" y="2423160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2551176"/>
            <a:ext cx="685800" cy="164592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接入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68680" y="280720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快速集成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118104"/>
            <a:ext cx="306324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导入 OpenAPI 后自动生成 MCP 工具，减少重复开发。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89120" y="2423160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2551176"/>
            <a:ext cx="685800" cy="164592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治理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0" y="280720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安全治理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3118104"/>
            <a:ext cx="306324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多租户、SSO、RBAC/ABAC、API Key、审计日志形成闭环。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92440" y="2423160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57032" y="2551176"/>
            <a:ext cx="685800" cy="164592"/>
          </a:xfrm>
          <a:prstGeom prst="rect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运营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8275320" y="280720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可运营扩展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75320" y="3118104"/>
            <a:ext cx="306324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模型、Skill、记忆、用量分析支撑 SaaS 商业化运营。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97280" y="4617720"/>
            <a:ext cx="9875520" cy="777240"/>
          </a:xfrm>
          <a:prstGeom prst="roundRect">
            <a:avLst>
              <a:gd name="adj" fmla="val 9412"/>
            </a:avLst>
          </a:prstGeom>
          <a:solidFill>
            <a:srgbClr val="ECFEFF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4892040"/>
            <a:ext cx="9235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4E63"/>
                </a:solidFill>
              </a:rPr>
              <a:t>让企业 API 成为 AI Agent 可安全调用、可治理运营、可持续扩展的生产力。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Enterprise AI Service Platform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EASP 产品推广手册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2. 企业 AI 落地的四类阻碍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90472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系统多、接口散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810512"/>
            <a:ext cx="480060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CRM、ERP、OA、客服、数据平台等接口分散，Agent 难以统一调用。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217920" y="132588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490472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权限不可控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1810512"/>
            <a:ext cx="480060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模型能调用什么、谁能用什么、是否越权，需要企业级策略与后端判定。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329184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456432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集成成本高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3776472"/>
            <a:ext cx="480060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每接一个系统都要重复开发工具定义、鉴权、参数映射、错误处理与监控。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329184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456432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运营不可见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3776472"/>
            <a:ext cx="480060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模型调用了哪些工具、消耗多少 Token、是否失败、谁发起操作，缺少统一审计。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Enterprise AI Service Platform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EASP 产品推广手册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3. EASP 解决方案架构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07899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业务用户 / AI 助手 / 外部 Agent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43000" y="1508760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ECFEFF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16733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业务用户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993392"/>
            <a:ext cx="2194560" cy="-9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1508760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ECFEFF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6733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助手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993392"/>
            <a:ext cx="2194560" cy="-9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275320" y="1508760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ECFEFF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8200" y="16733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外部 Agent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58200" y="1993392"/>
            <a:ext cx="2194560" cy="-9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0" y="2194560"/>
            <a:ext cx="457200" cy="320040"/>
          </a:xfrm>
          <a:prstGeom prst="downArrow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2606040"/>
            <a:ext cx="10378440" cy="1417320"/>
          </a:xfrm>
          <a:prstGeom prst="roundRect">
            <a:avLst>
              <a:gd name="adj" fmla="val 7742"/>
            </a:avLst>
          </a:prstGeom>
          <a:solidFill>
            <a:srgbClr val="0F172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283464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EASP 企业级智能服务平台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4440" y="3273552"/>
            <a:ext cx="9692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BAE6FD"/>
                </a:solidFill>
              </a:rPr>
              <a:t>认证与租户｜权限治理｜API-to-MCP｜Skill 引擎｜记忆系统｜模型服务｜运营审计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0" y="4160520"/>
            <a:ext cx="457200" cy="320040"/>
          </a:xfrm>
          <a:prstGeom prst="downArrow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61772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78231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5102352"/>
            <a:ext cx="1417320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063240" y="461772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478231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ERP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46120" y="5102352"/>
            <a:ext cx="1417320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303520" y="461772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0" y="478231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0" y="5102352"/>
            <a:ext cx="1417320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543800" y="461772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26680" y="478231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数据库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726680" y="5102352"/>
            <a:ext cx="1417320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784080" y="461772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66960" y="478231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第三方 API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966960" y="5102352"/>
            <a:ext cx="1417320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Enterprise AI Service Platform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EASP 产品推广手册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4. 核心能力矩阵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271016"/>
            <a:ext cx="685800" cy="164592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" y="152704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多租户与 SSO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837944"/>
            <a:ext cx="306324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租户隔离、到期、用户上限；标准登录与 SSO 自动回退。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07408" y="114300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271016"/>
            <a:ext cx="685800" cy="164592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90288" y="152704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角色权限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90288" y="1837944"/>
            <a:ext cx="306324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系统级/租户级角色；功能菜单与工具权限。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20456" y="114300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85048" y="1271016"/>
            <a:ext cx="685800" cy="164592"/>
          </a:xfrm>
          <a:prstGeom prst="rect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8403336" y="152704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API-to-MCP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03336" y="1837944"/>
            <a:ext cx="306324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OpenAPI v2/v3 导入，自动生成 MCP 工具。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315468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3282696"/>
            <a:ext cx="685800" cy="164592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77240" y="353872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Skill 引擎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3849624"/>
            <a:ext cx="306324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Schema 驱动表单，步骤执行和结果追踪。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407408" y="315468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3282696"/>
            <a:ext cx="685800" cy="164592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5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590288" y="353872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记忆系统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90288" y="3849624"/>
            <a:ext cx="306324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记忆池、长期记忆、去重、敏感过滤、混合检索。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220456" y="315468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85048" y="3282696"/>
            <a:ext cx="685800" cy="164592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6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8403336" y="353872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模型与运营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03336" y="3849624"/>
            <a:ext cx="306324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多供应商、多模型、用量统计与审计分析。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Enterprise AI Service Platform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EASP 产品推广手册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5. API-to-MCP：把企业能力变成 Agent 工具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58368" y="20574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ECFEFF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2219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连接器配置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" y="2542032"/>
            <a:ext cx="137160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接入企业 API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395728" y="2340864"/>
            <a:ext cx="256032" cy="292608"/>
          </a:xfrm>
          <a:prstGeom prst="chevron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16936" y="20574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99816" y="22219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OpenAPI 导入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99816" y="2542032"/>
            <a:ext cx="137160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解析 v2/v3 规范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54296" y="2340864"/>
            <a:ext cx="256032" cy="292608"/>
          </a:xfrm>
          <a:prstGeom prst="chevron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75504" y="20574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ECFEFF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58384" y="22219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工具定义生成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58384" y="2542032"/>
            <a:ext cx="137160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生成 MCP Schema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12864" y="2340864"/>
            <a:ext cx="256032" cy="292608"/>
          </a:xfrm>
          <a:prstGeom prst="chevron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34072" y="20574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16952" y="22219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权限过滤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616952" y="2542032"/>
            <a:ext cx="137160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按角色开放工具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71432" y="2340864"/>
            <a:ext cx="256032" cy="292608"/>
          </a:xfrm>
          <a:prstGeom prst="chevron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0" y="205740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ECFEFF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0" y="22219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Agent 调用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875520" y="2542032"/>
            <a:ext cx="137160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标准协议调用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22960" y="3886200"/>
            <a:ext cx="1024128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200" dirty="0">
                <a:solidFill>
                  <a:srgbClr val="111827"/>
                </a:solidFill>
              </a:rPr>
              <a:t>统一 MCP SSE / HTTP 接入入口</a:t>
            </a:r>
            <a:endParaRPr lang="en-US" sz="1200" dirty="0"/>
          </a:p>
          <a:p>
            <a:r>
              <a:rPr lang="en-US" sz="1200" dirty="0">
                <a:solidFill>
                  <a:srgbClr val="111827"/>
                </a:solidFill>
              </a:rPr>
              <a:t>自动参数映射与响应转换</a:t>
            </a:r>
            <a:endParaRPr lang="en-US" sz="1200" dirty="0"/>
          </a:p>
          <a:p>
            <a:r>
              <a:rPr lang="en-US" sz="1200" dirty="0">
                <a:solidFill>
                  <a:srgbClr val="111827"/>
                </a:solidFill>
              </a:rPr>
              <a:t>工具启停、调用记录、错误处理、超时控制</a:t>
            </a:r>
            <a:endParaRPr lang="en-US" sz="1200" dirty="0"/>
          </a:p>
          <a:p>
            <a:r>
              <a:rPr lang="en-US" sz="1200" dirty="0">
                <a:solidFill>
                  <a:srgbClr val="111827"/>
                </a:solidFill>
              </a:rPr>
              <a:t>适合作为企业 AI Agent 的标准能力网关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Enterprise AI Service Platform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EASP 产品推广手册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6. 企业治理：可控、可审计、可运营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362456"/>
            <a:ext cx="685800" cy="164592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AUTH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868680" y="16184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身份认证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929384"/>
            <a:ext cx="3017520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JWT、租户登录、SSO 配置与连接测试，支持企业身份体系接入。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07408" y="123444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362456"/>
            <a:ext cx="685800" cy="164592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RBAC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90288" y="16184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权限边界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90288" y="1929384"/>
            <a:ext cx="3017520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RBAC/ABAC、功能菜单、工具权限，由后端统一判定。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19872" y="123444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84464" y="1362456"/>
            <a:ext cx="685800" cy="164592"/>
          </a:xfrm>
          <a:prstGeom prst="rect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SAAS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8302752" y="16184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租户隔离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02752" y="1929384"/>
            <a:ext cx="3017520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租户状态、到期时间、用户上限，适配 SaaS 商业化。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920240" y="324612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84832" y="3374136"/>
            <a:ext cx="685800" cy="164592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AUDIT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103120" y="36301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审计追踪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03120" y="3941064"/>
            <a:ext cx="320040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记录操作人、租户、Agent ID、耗时、IP、User-Agent 与工具结果。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537960" y="324612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02552" y="3374136"/>
            <a:ext cx="685800" cy="164592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KEY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720840" y="36301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API Key 接入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20840" y="3941064"/>
            <a:ext cx="320040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面向外部系统/Agent 的凭证管理与接入文档。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Enterprise AI Service Platform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EASP 产品推广手册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7. Skill 引擎：把高频任务沉淀为标准流程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581912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从“人告诉 AI 怎么做”到“平台沉淀可复用的业务流程”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04672" y="278892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ECFE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95351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Schema 驱动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87552" y="3273552"/>
            <a:ext cx="2057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自动生成执行表单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39312" y="278892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ECFE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22192" y="295351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步骤编排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22192" y="3273552"/>
            <a:ext cx="2057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支持 MCP tool 执行器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73952" y="278892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ECFE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56832" y="295351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执行记录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56832" y="3273552"/>
            <a:ext cx="2057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记录耗时、输入输出、结果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308592" y="2788920"/>
            <a:ext cx="2423160" cy="1143000"/>
          </a:xfrm>
          <a:prstGeom prst="roundRect">
            <a:avLst>
              <a:gd name="adj" fmla="val 6400"/>
            </a:avLst>
          </a:prstGeom>
          <a:solidFill>
            <a:srgbClr val="ECFE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91472" y="295351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可视化测试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491472" y="3273552"/>
            <a:ext cx="2057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业务人员可验证流程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Enterprise AI Service Platform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EASP 产品推广手册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8. 记忆系统：长期上下文与治理并重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9808" y="13258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53896"/>
            <a:ext cx="685800" cy="164592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POOL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932688" y="1709928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记忆池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2020824"/>
            <a:ext cx="4709160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按类型、目的、优先级组织记忆资产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36208" y="13258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453896"/>
            <a:ext cx="685800" cy="164592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MEM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419088" y="1709928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长期记忆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19088" y="2020824"/>
            <a:ext cx="4709160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沉淀用户偏好、企业知识、处理经验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9808" y="320040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328416"/>
            <a:ext cx="685800" cy="164592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GOV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932688" y="3584448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治理能力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2688" y="3895344"/>
            <a:ext cx="4709160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去重、敏感过滤、开关、审计日志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36208" y="320040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3328416"/>
            <a:ext cx="685800" cy="164592"/>
          </a:xfrm>
          <a:prstGeom prst="rect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RAG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419088" y="3584448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智能召回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19088" y="3895344"/>
            <a:ext cx="4709160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衰减评分、合并策略、混合检索、召回解释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14400" y="5486400"/>
            <a:ext cx="10332720" cy="228600"/>
          </a:xfrm>
          <a:prstGeom prst="rect">
            <a:avLst/>
          </a:prstGeom>
          <a:solidFill>
            <a:srgbClr val="ECFE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4E63"/>
                </a:solidFill>
              </a:rPr>
              <a:t>边界原则：记忆治理作用于持久化、审计与召回展示链路，不修改实时工具调用参数。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Enterprise AI Service Platform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EASP 产品推广手册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9. AI 助手：对话、工具调用与链路追踪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362456"/>
            <a:ext cx="685800" cy="164592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CHAT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960120" y="16184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SSE 流式响应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929384"/>
            <a:ext cx="3017520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对话实时输出，提升用户体验。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34840" y="123444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1362456"/>
            <a:ext cx="685800" cy="164592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TOOL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617720" y="16184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Tool Calling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17720" y="1929384"/>
            <a:ext cx="3017520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根据用户角色过滤可用工具并执行。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92440" y="123444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7032" y="1362456"/>
            <a:ext cx="685800" cy="164592"/>
          </a:xfrm>
          <a:prstGeom prst="rect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TRACE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8275320" y="16184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TraceTimeline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75320" y="1929384"/>
            <a:ext cx="3017520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展示 thinking、plan、tool_calling、generating 阶段耗时。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051560" y="3337560"/>
            <a:ext cx="10012680" cy="1143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3730752"/>
            <a:ext cx="9464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统一请求协议：/assistant 页面与 FloatingAssistant 共用后端能力；前端只传事实型页面上下文，后端负责理解和决策。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Enterprise AI Service Platform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EASP 产品推广手册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10. 典型应用场景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9808" y="1143000"/>
            <a:ext cx="1069848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325880"/>
            <a:ext cx="2377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内部 AI 助手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29000" y="1325880"/>
            <a:ext cx="7589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按角色开放内部系统查询与操作工具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49808" y="1929384"/>
            <a:ext cx="106984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112264"/>
            <a:ext cx="2377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客服/售后 Agent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29000" y="2112264"/>
            <a:ext cx="7589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自动查询订单、工单、知识库并生成处理建议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49808" y="2715768"/>
            <a:ext cx="1069848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898648"/>
            <a:ext cx="2377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销售运营助手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2898648"/>
            <a:ext cx="7589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查询客户、线索、合同、回款，辅助销售决策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9808" y="3502152"/>
            <a:ext cx="106984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685032"/>
            <a:ext cx="2377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IT 运维自动化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3685032"/>
            <a:ext cx="7589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封装监控、发布、工单、资产接口为受控工具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9808" y="4288536"/>
            <a:ext cx="10698480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471416"/>
            <a:ext cx="2377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SaaS 平台 AI 化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4471416"/>
            <a:ext cx="7589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为 B2B SaaS 提供租户级 AI 能力开放与计量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Enterprise AI Service Platform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EASP 产品推广手册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11. 差异化优势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5074920" cy="1371600"/>
          </a:xfrm>
          <a:prstGeom prst="roundRect">
            <a:avLst>
              <a:gd name="adj" fmla="val 5333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490472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不是单一聊天机器人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1810512"/>
            <a:ext cx="470916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EASP 关注企业 API 能力治理，让 AI 真正接入业务系统。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263640" y="1325880"/>
            <a:ext cx="507492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490472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不是简单 API 网关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46520" y="1810512"/>
            <a:ext cx="470916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面向 Agent 调用场景，内置 MCP、Skill、记忆与模型服务。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77240" y="3291840"/>
            <a:ext cx="5074920" cy="1371600"/>
          </a:xfrm>
          <a:prstGeom prst="roundRect">
            <a:avLst>
              <a:gd name="adj" fmla="val 5333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456432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核心策略在后端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3776472"/>
            <a:ext cx="470916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登录、权限、模型、记忆治理由后端统一决策。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63640" y="3291840"/>
            <a:ext cx="507492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3456432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面向 SaaS 商业化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3776472"/>
            <a:ext cx="470916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租户、到期、用户上限、API Key、用量分析为运营预留基础。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Enterprise AI Service Platform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EASP 产品推广手册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12. 客户收益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117043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降本｜提效｜控险｜可扩展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560320"/>
            <a:ext cx="242316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2688336"/>
            <a:ext cx="685800" cy="164592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960120" y="294436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降本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3255264"/>
            <a:ext cx="205740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减少每个 AI 应用重复开发工具接入与权限治理的成本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11880" y="2560320"/>
            <a:ext cx="242316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76472" y="2688336"/>
            <a:ext cx="685800" cy="164592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794760" y="294436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提效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94760" y="3255264"/>
            <a:ext cx="205740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业务 API 快速变成 Agent 工具，缩短上线周期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46520" y="2560320"/>
            <a:ext cx="242316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11112" y="2688336"/>
            <a:ext cx="685800" cy="164592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629400" y="294436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控险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29400" y="3255264"/>
            <a:ext cx="205740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租户隔离、角色权限、审计日志降低越权风险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281160" y="2560320"/>
            <a:ext cx="242316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45752" y="2688336"/>
            <a:ext cx="685800" cy="164592"/>
          </a:xfrm>
          <a:prstGeom prst="rect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9464040" y="294436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可扩展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464040" y="3255264"/>
            <a:ext cx="205740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从部门试点扩展到多租户、多系统、多 Agent 协同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Enterprise AI Service Platform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EASP 产品推广手册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13. 建议实施路径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984248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83464" y="256032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需求梳理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124712" y="2075688"/>
            <a:ext cx="10972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240280" y="18288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1984248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29384" y="256032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接口接入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70632" y="2075688"/>
            <a:ext cx="10972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86200" y="18288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1984248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75304" y="256032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权限配置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16552" y="2075688"/>
            <a:ext cx="10972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532120" y="18288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1984248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21224" y="256032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模型配置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62472" y="2075688"/>
            <a:ext cx="10972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178040" y="18288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8040" y="1984248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67144" y="256032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Skill 编排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708392" y="2075688"/>
            <a:ext cx="10972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823960" y="18288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23960" y="1984248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13064" y="256032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试点运营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354312" y="2075688"/>
            <a:ext cx="10972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469880" y="18288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69880" y="1984248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158984" y="256032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规模推广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05840" y="3977640"/>
            <a:ext cx="1005840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200" dirty="0">
                <a:solidFill>
                  <a:srgbClr val="111827"/>
                </a:solidFill>
              </a:rPr>
              <a:t>先选 1-2 个高价值业务流程试点</a:t>
            </a:r>
            <a:endParaRPr lang="en-US" sz="1200" dirty="0"/>
          </a:p>
          <a:p>
            <a:r>
              <a:rPr lang="en-US" sz="1200" dirty="0">
                <a:solidFill>
                  <a:srgbClr val="111827"/>
                </a:solidFill>
              </a:rPr>
              <a:t>接入首批 3-5 个核心 API 并配置权限</a:t>
            </a:r>
            <a:endParaRPr lang="en-US" sz="1200" dirty="0"/>
          </a:p>
          <a:p>
            <a:r>
              <a:rPr lang="en-US" sz="1200" dirty="0">
                <a:solidFill>
                  <a:srgbClr val="111827"/>
                </a:solidFill>
              </a:rPr>
              <a:t>用审计与用量数据评估上线效果</a:t>
            </a:r>
            <a:endParaRPr lang="en-US" sz="1200" dirty="0"/>
          </a:p>
          <a:p>
            <a:r>
              <a:rPr lang="en-US" sz="1200" dirty="0">
                <a:solidFill>
                  <a:srgbClr val="111827"/>
                </a:solidFill>
              </a:rPr>
              <a:t>逐步将高频操作沉淀为 Skill，把经验沉淀为可治理记忆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6556248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Enterprise AI Service Platform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EASP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49808" y="20574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让企业 API 成为 AI Agent 可安全调用、可治理运营、可持续扩展的生产力。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77240" y="379476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建议下一步：选择一个高价值场景试点 → 接入核心 API → 配置角色权限 → 通过审计和用量数据持续优化。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4892040"/>
            <a:ext cx="1965960" cy="411480"/>
          </a:xfrm>
          <a:prstGeom prst="roundRect">
            <a:avLst>
              <a:gd name="adj" fmla="val 2222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5047488"/>
            <a:ext cx="17190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开启企业 AI 能力治理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EASP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EASP 产品推广手册</dc:title>
  <dc:subject>EASP 产品推广手册</dc:subject>
  <dc:creator>Hermes Agent</dc:creator>
  <cp:lastModifiedBy>Hermes Agent</cp:lastModifiedBy>
  <cp:revision>1</cp:revision>
  <dcterms:created xsi:type="dcterms:W3CDTF">2026-06-13T11:04:13Z</dcterms:created>
  <dcterms:modified xsi:type="dcterms:W3CDTF">2026-06-13T11:04:13Z</dcterms:modified>
</cp:coreProperties>
</file>